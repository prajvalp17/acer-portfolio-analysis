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8BB73-DBCC-40F5-BDDA-E6230F502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D1650-FD82-4D95-ABC7-B8E9A8D7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603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D1650-FD82-4D95-ABC7-B8E9A8D762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58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4.png"/><Relationship Id="rId7" Type="http://schemas.openxmlformats.org/officeDocument/2006/relationships/image" Target="../media/image12.png"/><Relationship Id="rId12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57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7" Type="http://schemas.openxmlformats.org/officeDocument/2006/relationships/image" Target="../media/image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2931914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90675"/>
            <a:ext cx="542925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45184"/>
            <a:ext cx="6110798" cy="9221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4521398"/>
            <a:ext cx="438150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7100" y="6534150"/>
            <a:ext cx="628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Inter"/>
              </a:rPr>
              <a:t>SLIDE 01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2265164"/>
            <a:ext cx="570071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0" i="0" u="none">
                <a:solidFill>
                  <a:srgbClr val="FFFFFF"/>
                </a:solidFill>
                <a:latin typeface="Plus Jakarta Sans ExtraBold"/>
              </a:rPr>
              <a:t>Suitcase &amp; Bag Category Multi-Channel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3468885"/>
            <a:ext cx="5429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From operational reports → structured data → high-impact business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4559498"/>
            <a:ext cx="34385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Inter"/>
              </a:rPr>
              <a:t>Prajval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4740473"/>
            <a:ext cx="343852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 dirty="0">
                <a:solidFill>
                  <a:schemeClr val="bg1"/>
                </a:solidFill>
                <a:latin typeface="Inter"/>
              </a:rPr>
              <a:t>Data Analyst Intern </a:t>
            </a:r>
            <a:endParaRPr lang="en-US" sz="1100" dirty="0">
              <a:solidFill>
                <a:schemeClr val="bg1"/>
              </a:solidFill>
              <a:latin typeface="Inter"/>
            </a:endParaRPr>
          </a:p>
          <a:p>
            <a:pPr algn="l"/>
            <a:r>
              <a:rPr sz="1100" b="0" i="0" u="none" dirty="0">
                <a:solidFill>
                  <a:schemeClr val="bg1"/>
                </a:solidFill>
                <a:latin typeface="Inter"/>
              </a:rPr>
              <a:t>New Horizon College of Engineering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6C38860-010D-018C-0897-ED88B296B0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3216" y="1123950"/>
            <a:ext cx="4278659" cy="45529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D869E9-5B98-3F91-D2D2-520A5932AE18}"/>
              </a:ext>
            </a:extLst>
          </p:cNvPr>
          <p:cNvSpPr txBox="1"/>
          <p:nvPr/>
        </p:nvSpPr>
        <p:spPr>
          <a:xfrm>
            <a:off x="7022944" y="5781228"/>
            <a:ext cx="382145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83B81A"/>
                </a:solidFill>
                <a:latin typeface="Inter"/>
              </a:rPr>
              <a:t>EXECUTIVE SUMMARY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6A0A83-DAA0-FD5E-130C-55910E912BC9}"/>
              </a:ext>
            </a:extLst>
          </p:cNvPr>
          <p:cNvSpPr txBox="1"/>
          <p:nvPr/>
        </p:nvSpPr>
        <p:spPr>
          <a:xfrm>
            <a:off x="6913216" y="5914578"/>
            <a:ext cx="512943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00" b="0" i="0" u="none" dirty="0">
                <a:solidFill>
                  <a:srgbClr val="FFFFFF"/>
                </a:solidFill>
                <a:latin typeface="Inter Medium"/>
              </a:rPr>
              <a:t>A management-ready analytical framework evaluating sales velocity and inventory</a:t>
            </a:r>
            <a:endParaRPr lang="en-US" sz="1100" dirty="0">
              <a:solidFill>
                <a:srgbClr val="FFFFFF"/>
              </a:solidFill>
              <a:latin typeface="Inter Medium"/>
            </a:endParaRPr>
          </a:p>
          <a:p>
            <a:pPr algn="l">
              <a:lnSpc>
                <a:spcPts val="1462"/>
              </a:lnSpc>
            </a:pPr>
            <a:r>
              <a:rPr lang="en-US" sz="1100" b="0" i="0" u="none" dirty="0">
                <a:solidFill>
                  <a:srgbClr val="FFFFFF"/>
                </a:solidFill>
                <a:latin typeface="Inter Medium"/>
              </a:rPr>
              <a:t>performance across marketplaces.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7716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2681287" cy="11315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987" y="1798290"/>
            <a:ext cx="2681287" cy="11315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1798290"/>
            <a:ext cx="2681287" cy="11315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462" y="1798290"/>
            <a:ext cx="2681287" cy="11315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158430"/>
            <a:ext cx="5505450" cy="2257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3158430"/>
            <a:ext cx="5505450" cy="2257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987105"/>
            <a:ext cx="5067300" cy="352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4415730"/>
            <a:ext cx="5067300" cy="352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4844355"/>
            <a:ext cx="5067300" cy="352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The Business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How can marketplace and inventory data support better category decisions?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02 /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MARKETPLACES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Flipkart, Amazon, Myntra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012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012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012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Tracked Product SKUs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0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SERIES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Suitcase Product Families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4487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4,328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4487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TOTAL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4487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Units Across Stock Locations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325" y="3377505"/>
            <a:ext cx="5320665" cy="2190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3E635"/>
                </a:solidFill>
                <a:latin typeface="Plus Jakarta Sans"/>
              </a:rPr>
              <a:t>The Assignment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3377505"/>
            <a:ext cx="5320665" cy="2190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The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3710880"/>
            <a:ext cx="5067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Inter"/>
              </a:rPr>
              <a:t>A management-ready analytical view that answers three key questions: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25" y="3415605"/>
            <a:ext cx="17145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3925" y="3710880"/>
            <a:ext cx="4838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Consolidate product, sales and inventory information from multiple marketplace reports.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925" y="4253805"/>
            <a:ext cx="48387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Create a reliable view of product and channel performance.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25" y="4582417"/>
            <a:ext cx="4838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Translate raw numbers into actionable priorities using a 4P business lens.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9375" y="3415605"/>
            <a:ext cx="171450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3425" y="367278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425" y="421570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425" y="4544317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567904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3619500" cy="2800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1798290"/>
            <a:ext cx="3619500" cy="2800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798290"/>
            <a:ext cx="3619500" cy="2800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Data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One unified product master connected to sales and inventory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03 / 13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989165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6325" y="5003452"/>
            <a:ext cx="717232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A3E635"/>
                </a:solidFill>
                <a:latin typeface="Inter"/>
              </a:rPr>
              <a:t>Final Working Dataset:</a:t>
            </a:r>
            <a:r>
              <a:rPr sz="1125" b="0" i="0" u="none" dirty="0">
                <a:solidFill>
                  <a:srgbClr val="F3F4F6"/>
                </a:solidFill>
                <a:latin typeface="Inter Medium"/>
              </a:rPr>
              <a:t> 45 products • 6 series • 3 marketplaces • 4 stock locations.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325" y="2407890"/>
            <a:ext cx="3181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SemiBold"/>
              </a:rPr>
              <a:t>CHANNELS COVERED: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2050702"/>
            <a:ext cx="17145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2025" y="2036415"/>
            <a:ext cx="135016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Product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407890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Series taxonomy &amp; branding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736502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Product Name &amp; Part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065115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Marketplace Unique 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393727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MRP / Size / Colour specs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722340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Material &amp; Opening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050952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Expandable feature flags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25" y="2050702"/>
            <a:ext cx="219075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19650" y="2036415"/>
            <a:ext cx="153019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Marketplace Data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5325" y="2655540"/>
            <a:ext cx="609600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2655540"/>
            <a:ext cx="647700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5025" y="2655540"/>
            <a:ext cx="581025" cy="2190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33925" y="3027015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Channel-wise stock positions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3925" y="3355627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Channel-wise sales volumes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5325" y="2050702"/>
            <a:ext cx="219075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29650" y="2036415"/>
            <a:ext cx="130016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Acer 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3925" y="2407890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Warehouse central stock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3925" y="2736502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Product-level 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3925" y="3065115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Series-level inventory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3925" y="3393727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Total stock aggregation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3925" y="3722340"/>
            <a:ext cx="29527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Replenishment stock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425" y="236979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425" y="269840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425" y="302701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425" y="3355627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425" y="368424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425" y="401285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3425" y="298891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3425" y="3317527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425" y="236979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425" y="269840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3425" y="302701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3425" y="3355627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3425" y="3684240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3E635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55078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41165"/>
            <a:ext cx="1777900" cy="1211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450" y="1941165"/>
            <a:ext cx="1778049" cy="1211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800" y="1941165"/>
            <a:ext cx="1778049" cy="12114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1941165"/>
            <a:ext cx="1777900" cy="12114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350" y="1941165"/>
            <a:ext cx="1778049" cy="12114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00" y="1941165"/>
            <a:ext cx="1778049" cy="12114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850" y="2103090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051" y="210309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6400" y="210309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8750" y="210309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0951" y="2103090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3300" y="210309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From Raw Reports to Reliable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Structured workflow used to eliminate manual errors and improve reporting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04 / 13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375" y="3658936"/>
            <a:ext cx="161925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8700" y="3653371"/>
            <a:ext cx="10448925" cy="347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 i="0" u="none" dirty="0">
                <a:solidFill>
                  <a:srgbClr val="38BDF8"/>
                </a:solidFill>
                <a:latin typeface="Inter"/>
              </a:rPr>
              <a:t>Key Principle:</a:t>
            </a:r>
            <a:r>
              <a:rPr sz="1125" b="0" i="0" u="none" dirty="0">
                <a:solidFill>
                  <a:srgbClr val="F3F4F6"/>
                </a:solidFill>
                <a:latin typeface="Inter Medium"/>
              </a:rPr>
              <a:t> </a:t>
            </a:r>
            <a:r>
              <a:rPr sz="1130" dirty="0">
                <a:solidFill>
                  <a:srgbClr val="CBD5E1"/>
                </a:solidFill>
                <a:latin typeface="Inter"/>
              </a:rPr>
              <a:t>Always validate and reconcile raw numbers before interpreting business trends</a:t>
            </a:r>
            <a:r>
              <a:rPr lang="en-US" sz="1130" dirty="0">
                <a:solidFill>
                  <a:srgbClr val="CBD5E1"/>
                </a:solidFill>
                <a:latin typeface="Inter"/>
              </a:rPr>
              <a:t>. </a:t>
            </a:r>
            <a:r>
              <a:rPr lang="en-IN" sz="1130" dirty="0">
                <a:solidFill>
                  <a:srgbClr val="CBD5E1"/>
                </a:solidFill>
                <a:latin typeface="Inter"/>
              </a:rPr>
              <a:t>SQL queries were used to validate consistency between channel and inventory 	            views</a:t>
            </a:r>
            <a:r>
              <a:rPr lang="en-IN" sz="1130" dirty="0">
                <a:solidFill>
                  <a:schemeClr val="bg1"/>
                </a:solidFill>
                <a:latin typeface="Inter"/>
              </a:rPr>
              <a:t>.</a:t>
            </a:r>
            <a:endParaRPr sz="1130" b="0" i="0" u="none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0075" y="2484090"/>
            <a:ext cx="1530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COLLECT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" y="2693640"/>
            <a:ext cx="153025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Marketplace reports + Acer stock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2275" y="2484090"/>
            <a:ext cx="15303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STANDARDIZE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2275" y="2693640"/>
            <a:ext cx="153039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Product master, IDs, series &amp;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4625" y="2484090"/>
            <a:ext cx="15303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4625" y="2693640"/>
            <a:ext cx="153039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Sales &amp; stock totals across 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6975" y="2484090"/>
            <a:ext cx="1530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6975" y="2693640"/>
            <a:ext cx="153025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Excel pivots + SQL validation queries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9175" y="2484090"/>
            <a:ext cx="15303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VISUALIZE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9175" y="2693640"/>
            <a:ext cx="153039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Executive Dashboard, KPIs &amp;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1525" y="2484090"/>
            <a:ext cx="15303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1525" y="2693640"/>
            <a:ext cx="153039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4P recommendations &amp; priorities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22306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5505450" cy="16132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98290"/>
            <a:ext cx="5505450" cy="16132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640187"/>
            <a:ext cx="5505450" cy="16132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640187"/>
            <a:ext cx="5505450" cy="16132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Analytical Framework: 4P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Designed to translate raw reporting data into strategic business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05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607915"/>
            <a:ext cx="5067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3E635"/>
                </a:solidFill>
                <a:latin typeface="Inter SemiBold"/>
              </a:rPr>
              <a:t>Which series and products are moving?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2846040"/>
            <a:ext cx="5067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Sales velocity by series • Inventory depth by series • Simple sell-through ratio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607915"/>
            <a:ext cx="5067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Inter SemiBold"/>
              </a:rPr>
              <a:t>How is the portfolio positioned?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846040"/>
            <a:ext cx="50673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MRP distribution • Size variants • Material specification • Series tier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4449812"/>
            <a:ext cx="5067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B923C"/>
                </a:solidFill>
                <a:latin typeface="Inter SemiBold"/>
              </a:rPr>
              <a:t>Which channels are contributing?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687937"/>
            <a:ext cx="50673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Marketplace sales contribution • Marketplace stock distribution across Flipkart, Amazon &amp; Myntra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449812"/>
            <a:ext cx="5067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7171"/>
                </a:solidFill>
                <a:latin typeface="Inter SemiBold"/>
              </a:rPr>
              <a:t>Where should attention be focused?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687937"/>
            <a:ext cx="50673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High-potential products with available stock • Capitalizing on key demand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2036415"/>
            <a:ext cx="1038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3E635"/>
                </a:solidFill>
                <a:latin typeface="Inter ExtraBold"/>
              </a:rPr>
              <a:t>01 • Category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4025" y="2036415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29375" y="2036415"/>
            <a:ext cx="647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Inter ExtraBold"/>
              </a:rPr>
              <a:t>02 • Value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96650" y="2036415"/>
            <a:ext cx="200025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5325" y="3878312"/>
            <a:ext cx="904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B923C"/>
                </a:solidFill>
                <a:latin typeface="Inter ExtraBold"/>
              </a:rPr>
              <a:t>03 • Channels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6875" y="3878312"/>
            <a:ext cx="28575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29375" y="3878312"/>
            <a:ext cx="1323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7171"/>
                </a:solidFill>
                <a:latin typeface="Inter ExtraBold"/>
              </a:rPr>
              <a:t>04 • Focus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68075" y="3878312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5325" y="2226915"/>
            <a:ext cx="109013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2226915"/>
            <a:ext cx="6800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4068812"/>
            <a:ext cx="95011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4068812"/>
            <a:ext cx="139017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PROMOTION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222125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2681287" cy="11315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987" y="1798290"/>
            <a:ext cx="2681287" cy="11315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1798290"/>
            <a:ext cx="2681287" cy="11315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462" y="1798290"/>
            <a:ext cx="2681287" cy="11315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158430"/>
            <a:ext cx="5505450" cy="1552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158430"/>
            <a:ext cx="5505450" cy="1552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958530"/>
            <a:ext cx="506730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396680"/>
            <a:ext cx="506730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Executive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A single-page overview for quick executive monitoring of sales and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485775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06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146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TOTAL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Units Recorded in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012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4,328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012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TOTAL 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012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Units Total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750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2,945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ACER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0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Units in Central 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4487" y="1979265"/>
            <a:ext cx="2281237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0" i="0" u="none">
                <a:solidFill>
                  <a:srgbClr val="A3E635"/>
                </a:solidFill>
                <a:latin typeface="Plus Jakarta Sans Extra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4487" y="2415480"/>
            <a:ext cx="22812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chemeClr val="bg1"/>
                </a:solidFill>
                <a:latin typeface="Inter SemiBold"/>
              </a:rPr>
              <a:t>ACTIVE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4487" y="2605980"/>
            <a:ext cx="228123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chemeClr val="bg1"/>
                </a:solidFill>
                <a:latin typeface="Inter"/>
              </a:rPr>
              <a:t>Flipkart, Amazon, Myntra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3729930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Inter ExtraBold"/>
              </a:rPr>
              <a:t>Flipkart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4015680"/>
            <a:ext cx="50673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Contributes </a:t>
            </a:r>
            <a:r>
              <a:rPr sz="1050" b="1" i="0" u="none" dirty="0">
                <a:solidFill>
                  <a:srgbClr val="A3E635"/>
                </a:solidFill>
                <a:latin typeface="Inter"/>
              </a:rPr>
              <a:t>71.2%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of total sales volume and holds </a:t>
            </a:r>
            <a:r>
              <a:rPr sz="1050" b="1" i="0" u="none" dirty="0">
                <a:solidFill>
                  <a:srgbClr val="38BDF8"/>
                </a:solidFill>
                <a:latin typeface="Inter"/>
              </a:rPr>
              <a:t>71.4%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of marketplace stock.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3387030"/>
            <a:ext cx="149018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A3E635"/>
                </a:solidFill>
                <a:latin typeface="Plus Jakarta Sans"/>
              </a:rPr>
              <a:t>Sales Volume Share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0" y="3377505"/>
            <a:ext cx="1000125" cy="219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5325" y="3729930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Brisbane Series </a:t>
            </a:r>
            <a:r>
              <a:rPr sz="975" b="1" i="0" u="none">
                <a:solidFill>
                  <a:srgbClr val="A3E635"/>
                </a:solidFill>
                <a:latin typeface="Inter"/>
              </a:rPr>
              <a:t>53 units (36.3%)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" y="4168080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Barcelona Series </a:t>
            </a:r>
            <a:r>
              <a:rPr sz="975" b="1" i="0" u="none">
                <a:solidFill>
                  <a:srgbClr val="38BDF8"/>
                </a:solidFill>
                <a:latin typeface="Inter"/>
              </a:rPr>
              <a:t>41 units (28.1%)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9375" y="3387030"/>
            <a:ext cx="153019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Channel Dominance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9875" y="3377505"/>
            <a:ext cx="1066800" cy="219075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95325" y="3958530"/>
            <a:ext cx="1839366" cy="9525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95325" y="4396680"/>
            <a:ext cx="1423838" cy="952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9100"/>
            <a:ext cx="17621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798290"/>
            <a:ext cx="5505450" cy="27562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798290"/>
            <a:ext cx="5505450" cy="27562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3583037"/>
            <a:ext cx="5067300" cy="752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Sales Performance: Where Demand Is Concentrated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Two series account for nearly two-thirds of total recorded category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8050" y="6534150"/>
            <a:ext cx="6477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07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017365"/>
            <a:ext cx="532066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Sales Contribution Breakdown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997174"/>
              </p:ext>
            </p:extLst>
          </p:nvPr>
        </p:nvGraphicFramePr>
        <p:xfrm>
          <a:off x="695325" y="2350740"/>
          <a:ext cx="506729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E635"/>
                          </a:solidFill>
                          <a:latin typeface="Inter"/>
                        </a:rPr>
                        <a:t>Series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E635"/>
                          </a:solidFill>
                          <a:latin typeface="Inter"/>
                        </a:rPr>
                        <a:t>Sales (Units)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E635"/>
                          </a:solidFill>
                          <a:latin typeface="Inter"/>
                        </a:rPr>
                        <a:t>Share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A3E635"/>
                          </a:solidFill>
                          <a:latin typeface="Inter"/>
                        </a:rPr>
                        <a:t>Brisbane Series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E2E8F0"/>
                          </a:solidFill>
                          <a:latin typeface="Inter"/>
                        </a:rPr>
                        <a:t>53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36.3%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Barcelona Series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E2E8F0"/>
                          </a:solidFill>
                          <a:latin typeface="Inter"/>
                        </a:rPr>
                        <a:t>41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28.1%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Other 4 Series Combined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52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35.6%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Inter ExtraBold"/>
                        </a:rPr>
                        <a:t>Total Sales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bg1"/>
                          </a:solidFill>
                          <a:latin typeface="Inter ExtraBold"/>
                        </a:rPr>
                        <a:t>146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E6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chemeClr val="bg1"/>
                          </a:solidFill>
                          <a:latin typeface="Inter ExtraBold"/>
                        </a:rPr>
                        <a:t>100.0</a:t>
                      </a:r>
                      <a:r>
                        <a:rPr sz="1050" b="0" i="0" u="none" dirty="0">
                          <a:solidFill>
                            <a:srgbClr val="A3E635"/>
                          </a:solidFill>
                          <a:latin typeface="Inter ExtraBold"/>
                        </a:rPr>
                        <a:t>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E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29375" y="2036415"/>
            <a:ext cx="5067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A3E635"/>
                </a:solidFill>
                <a:latin typeface="Inter ExtraBold"/>
              </a:rPr>
              <a:t>Key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255490"/>
            <a:ext cx="5320665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>
                <a:solidFill>
                  <a:srgbClr val="FFFFFF"/>
                </a:solidFill>
                <a:latin typeface="Plus Jakarta Sans ExtraBold"/>
              </a:rPr>
              <a:t>Combined Concentration: </a:t>
            </a:r>
            <a:r>
              <a:rPr sz="1950" b="0" i="0" u="none">
                <a:solidFill>
                  <a:srgbClr val="A3E635"/>
                </a:solidFill>
                <a:latin typeface="Plus Jakarta Sans ExtraBold"/>
              </a:rPr>
              <a:t>64.4%</a:t>
            </a:r>
            <a:r>
              <a:rPr sz="1950" b="0" i="0" u="none">
                <a:solidFill>
                  <a:srgbClr val="FFFFFF"/>
                </a:solidFill>
                <a:latin typeface="Plus Jakarta Sans ExtraBold"/>
              </a:rPr>
              <a:t> of total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002012"/>
            <a:ext cx="5067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Brisbane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(53 units) and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Barcelona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(41 units) form the primary core of sales performance across channels.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3716387"/>
            <a:ext cx="4762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STRATEGIC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3878312"/>
            <a:ext cx="4762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These two series deserve uninterrupted stock availability and top-tier promotional placement.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325" y="3117502"/>
            <a:ext cx="2258466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53791" y="3117502"/>
            <a:ext cx="1564778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18570" y="3117502"/>
            <a:ext cx="1244054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5325" y="3517552"/>
            <a:ext cx="2258466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53791" y="3517552"/>
            <a:ext cx="1564778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18570" y="3517552"/>
            <a:ext cx="1244054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5325" y="3917602"/>
            <a:ext cx="2258466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53791" y="3917602"/>
            <a:ext cx="1564778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18570" y="3917602"/>
            <a:ext cx="1244054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5325" y="4317652"/>
            <a:ext cx="2258466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53791" y="4317652"/>
            <a:ext cx="1564778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18570" y="4317652"/>
            <a:ext cx="1244054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214505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3619500" cy="22056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1798290"/>
            <a:ext cx="3619500" cy="22056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798290"/>
            <a:ext cx="3619500" cy="22056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933450"/>
            <a:ext cx="11715750" cy="384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 dirty="0">
                <a:solidFill>
                  <a:srgbClr val="FFFFFF"/>
                </a:solidFill>
                <a:latin typeface="Plus Jakarta Sans ExtraBold"/>
              </a:rPr>
              <a:t>Inventory Health: Demand vs.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High stock is not automatically a problem — it becomes one when misaligned with sales 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08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036415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Inter ExtraBold"/>
              </a:rPr>
              <a:t>REPLENISHMENT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236440"/>
            <a:ext cx="33404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Melbourne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2579340"/>
            <a:ext cx="3181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7171"/>
                </a:solidFill>
                <a:latin typeface="Inter ExtraBold"/>
              </a:rPr>
              <a:t>42.3%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988915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SemiBold"/>
              </a:rPr>
              <a:t>Simple Sell-Through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3265140"/>
            <a:ext cx="3181350" cy="52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64"/>
              </a:lnSpc>
            </a:pPr>
            <a:r>
              <a:rPr sz="975" dirty="0">
                <a:solidFill>
                  <a:srgbClr val="CBD5E1"/>
                </a:solidFill>
                <a:latin typeface="Inter"/>
              </a:rPr>
              <a:t>Recorded 22 sales against only 52 total inventory units. </a:t>
            </a:r>
            <a:r>
              <a:rPr lang="en-IN" sz="975" dirty="0">
                <a:solidFill>
                  <a:srgbClr val="CBD5E1"/>
                </a:solidFill>
                <a:latin typeface="Inter"/>
              </a:rPr>
              <a:t>High sell-through indicates that Melbourne should be closely monitored for replenishment.</a:t>
            </a:r>
            <a:endParaRPr sz="975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5325" y="2036415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B923C"/>
                </a:solidFill>
                <a:latin typeface="Inter ExtraBold"/>
              </a:rPr>
              <a:t>LARGEST STOCK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325" y="2236440"/>
            <a:ext cx="33404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Barcelona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325" y="2579340"/>
            <a:ext cx="3181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B923C"/>
                </a:solidFill>
                <a:latin typeface="Inter ExtraBold"/>
              </a:rPr>
              <a:t>1,700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5325" y="2988915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SemiBold"/>
              </a:rPr>
              <a:t>Total Inventory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5325" y="3265140"/>
            <a:ext cx="3181350" cy="347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CBD5E1"/>
                </a:solidFill>
                <a:latin typeface="Inter"/>
              </a:rPr>
              <a:t>Generates </a:t>
            </a:r>
            <a:r>
              <a:rPr sz="975" b="1" i="0" u="none" dirty="0">
                <a:solidFill>
                  <a:srgbClr val="CBD5E1"/>
                </a:solidFill>
                <a:latin typeface="Inter"/>
              </a:rPr>
              <a:t>41 sales</a:t>
            </a:r>
            <a:r>
              <a:rPr sz="975" b="0" i="0" u="none" dirty="0">
                <a:solidFill>
                  <a:srgbClr val="CBD5E1"/>
                </a:solidFill>
                <a:latin typeface="Inter"/>
              </a:rPr>
              <a:t> but carries the largest stock base. Monitor velocity closely to avoid prolonged holding costs.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2036415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A3E635"/>
                </a:solidFill>
                <a:latin typeface="Inter ExtraBold"/>
              </a:rPr>
              <a:t>HEALTHY BALANCED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2236440"/>
            <a:ext cx="33404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Brisbane Series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325" y="2579340"/>
            <a:ext cx="3181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A3E635"/>
                </a:solidFill>
                <a:latin typeface="Inter ExtraBold"/>
              </a:rPr>
              <a:t>1,380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2988915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SemiBold"/>
              </a:rPr>
              <a:t>Total Inventory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3265140"/>
            <a:ext cx="3181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Strongest sales volume (</a:t>
            </a:r>
            <a:r>
              <a:rPr sz="975" b="1" i="0" u="none">
                <a:solidFill>
                  <a:srgbClr val="CBD5E1"/>
                </a:solidFill>
                <a:latin typeface="Inter"/>
              </a:rPr>
              <a:t>53 sales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) backed by a substantial inventory pool to support ongoing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207272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11239500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69865"/>
            <a:ext cx="5505450" cy="1628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969865"/>
            <a:ext cx="5505450" cy="1628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731865"/>
            <a:ext cx="5067300" cy="95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170015"/>
            <a:ext cx="5067300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3731865"/>
            <a:ext cx="506730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4170015"/>
            <a:ext cx="506730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Marketplace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Channel contribution shows where sales and marketplace stock are concentrated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58525" y="6534150"/>
            <a:ext cx="6572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09 /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3188940"/>
            <a:ext cx="532066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Marketplace Sales Share (146 Units Total)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188940"/>
            <a:ext cx="532066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B923C"/>
                </a:solidFill>
                <a:latin typeface="Plus Jakarta Sans"/>
              </a:rPr>
              <a:t>Marketplace Stock Share (1,383 Units Total)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2036415"/>
            <a:ext cx="6648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3E635"/>
                </a:solidFill>
                <a:latin typeface="Inter ExtraBold"/>
              </a:rPr>
              <a:t>PRIMARY CHANNEL DOMINANCE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6950" y="2141190"/>
            <a:ext cx="1609725" cy="3143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5325" y="350326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Flipkart (104 sales) </a:t>
            </a:r>
            <a:r>
              <a:rPr sz="975" b="1" i="0" u="none">
                <a:solidFill>
                  <a:srgbClr val="A3E635"/>
                </a:solidFill>
                <a:latin typeface="Inter"/>
              </a:rPr>
              <a:t>71.2%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394141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Amazon &amp; Myntra Combined (42 sales) </a:t>
            </a:r>
            <a:r>
              <a:rPr sz="975" b="1" i="0" u="none">
                <a:solidFill>
                  <a:srgbClr val="38BDF8"/>
                </a:solidFill>
                <a:latin typeface="Inter"/>
              </a:rPr>
              <a:t>28.8%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50326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Flipkart Stock (987 units) </a:t>
            </a:r>
            <a:r>
              <a:rPr sz="975" b="1" i="0" u="none">
                <a:solidFill>
                  <a:srgbClr val="FB923C"/>
                </a:solidFill>
                <a:latin typeface="Inter"/>
              </a:rPr>
              <a:t>71.4%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94141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Amazon &amp; Myntra Stock (396 units) </a:t>
            </a:r>
            <a:r>
              <a:rPr sz="975" b="1" i="0" u="none">
                <a:solidFill>
                  <a:srgbClr val="94A3B8"/>
                </a:solidFill>
                <a:latin typeface="Inter"/>
              </a:rPr>
              <a:t>28.6%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325" y="2245965"/>
            <a:ext cx="69808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Flipkart = 71.2% of Sales &amp; 71.4% of Marketplace 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5325" y="3731865"/>
            <a:ext cx="3607891" cy="9525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5325" y="4170015"/>
            <a:ext cx="1459259" cy="952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29375" y="3731865"/>
            <a:ext cx="3618011" cy="952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29375" y="4170015"/>
            <a:ext cx="1449139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95842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5505450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98290"/>
            <a:ext cx="5505450" cy="1181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24319"/>
            <a:ext cx="5505450" cy="1181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207990"/>
            <a:ext cx="5505450" cy="1181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036415"/>
            <a:ext cx="3333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036415"/>
            <a:ext cx="3524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3446115"/>
            <a:ext cx="3524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3446115"/>
            <a:ext cx="3619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What the Data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Four core insights that matter for category management and operational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87100" y="6534150"/>
            <a:ext cx="628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10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2360265"/>
            <a:ext cx="5067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Brisbane + Barcelona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contribute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94 of 146 sales (64.4%)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. Category performance is heavily reliant on these two flagship series.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360265"/>
            <a:ext cx="5067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22 sales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against only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52 total inventory units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gives it the strongest simple sell-through ratio (42.3%), signaling stockout risks.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3769965"/>
            <a:ext cx="5067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Holding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1,700 units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in stock — requires active inventory velocity monitoring rather than evaluating inventory depth in isolation.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769965"/>
            <a:ext cx="5067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104 sales units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and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987 marketplace-stock units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make Flipkart the dominant marketplace driving category volume in this snapshot.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041177"/>
            <a:ext cx="218027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Demand is Concentrated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6100" y="2041177"/>
            <a:ext cx="319039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Melbourne is a Replenishment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2050" y="3450877"/>
            <a:ext cx="32404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Barcelona Carries Largest Stock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450877"/>
            <a:ext cx="26003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Flipkart is the Anchor Channel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407914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5505450" cy="1344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98290"/>
            <a:ext cx="5505450" cy="13448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371701"/>
            <a:ext cx="5505450" cy="13448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371701"/>
            <a:ext cx="5505450" cy="13448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Recommended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Turning analytical insights into a repeatable operating rhythm for category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5675" y="6534150"/>
            <a:ext cx="6000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11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036415"/>
            <a:ext cx="5067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87171"/>
                </a:solidFill>
                <a:latin typeface="Inter ExtraBold"/>
              </a:rPr>
              <a:t>01 • REPLENISHMENT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2255490"/>
            <a:ext cx="53206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Prioritize Melbourne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550765"/>
            <a:ext cx="50673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Prioritize Melbourne stock replenishment immediately and closely monitor its inventory position to prevent channel stockouts.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036415"/>
            <a:ext cx="5067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B923C"/>
                </a:solidFill>
                <a:latin typeface="Inter ExtraBold"/>
              </a:rPr>
              <a:t>02 • INVENTORY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2255490"/>
            <a:ext cx="53206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Review Barcelona &amp; Brisbane Velocity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550765"/>
            <a:ext cx="50673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Review Barcelona and Brisbane inventory positions against sales velocity before committing additional warehouse allocations.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3609826"/>
            <a:ext cx="5067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Inter ExtraBold"/>
              </a:rPr>
              <a:t>03 • CHANNEL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3828901"/>
            <a:ext cx="53206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Rebalance Myntra Channel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4124176"/>
            <a:ext cx="50673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Review Myntra assortment and stock allocation because its current marketplace stock is very low relative to its sales contribution.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609826"/>
            <a:ext cx="5067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A3E635"/>
                </a:solidFill>
                <a:latin typeface="Inter ExtraBold"/>
              </a:rPr>
              <a:t>04 • WEEKLY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828901"/>
            <a:ext cx="53206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Establish Dashboard Operating Rhythm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4124176"/>
            <a:ext cx="50673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Use the executive dashboard as a recurring weekly view of sales, stock velocity and channel movements.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221753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98290"/>
            <a:ext cx="3619500" cy="17960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1798290"/>
            <a:ext cx="3619500" cy="17960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798290"/>
            <a:ext cx="3619500" cy="17960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933450"/>
            <a:ext cx="117157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FFFFF"/>
                </a:solidFill>
                <a:latin typeface="Plus Jakarta Sans ExtraBold"/>
              </a:rPr>
              <a:t>My Contribution &amp;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1379190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The project strengthened both technical execution and business-first analytical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0887" y="485775"/>
            <a:ext cx="8048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7100" y="6534150"/>
            <a:ext cx="628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SLIDE 12 / 13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7" y="4108698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8227" y="4108698"/>
            <a:ext cx="8048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A3E635"/>
                </a:solidFill>
                <a:latin typeface="Inter"/>
              </a:rPr>
              <a:t>The Key Takeaway:</a:t>
            </a:r>
            <a:r>
              <a:rPr sz="1200" b="0" i="0" u="none" dirty="0">
                <a:solidFill>
                  <a:srgbClr val="F3F4F6"/>
                </a:solidFill>
                <a:latin typeface="Inter Medium"/>
              </a:rPr>
              <a:t> Better category decisions start with reliable, connected data and disciplined reconciliation.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2036415"/>
            <a:ext cx="18097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5325" y="2341215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DATA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617440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Clean • Validate • Reconcile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2855565"/>
            <a:ext cx="31813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chemeClr val="bg1"/>
                </a:solidFill>
                <a:latin typeface="Inter"/>
              </a:rPr>
              <a:t>Built and maintained a structured product master and weekly sales/inventory reconciliation view.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25" y="2036415"/>
            <a:ext cx="20955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05325" y="2341215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5325" y="2617440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Excel • SQL •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5325" y="2855565"/>
            <a:ext cx="31813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chemeClr val="bg1"/>
                </a:solidFill>
                <a:latin typeface="Inter"/>
              </a:rPr>
              <a:t>Used Excel formulas, Pivot Tables and SQL queries to make data easier to monitor and validate.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325" y="2036415"/>
            <a:ext cx="1619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5325" y="2341215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5325" y="2617440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B923C"/>
                </a:solidFill>
                <a:latin typeface="Inter"/>
              </a:rPr>
              <a:t>4P • Insights •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2855565"/>
            <a:ext cx="3181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CBD5E1"/>
                </a:solidFill>
                <a:latin typeface="Inter"/>
              </a:rPr>
              <a:t>Learned to connect technical data analysis with real business questions: what should the category team do next?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9100"/>
            <a:ext cx="14001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057649"/>
            <a:ext cx="4572000" cy="1278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410325"/>
            <a:ext cx="11239500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01512" y="485775"/>
            <a:ext cx="3286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 Medium"/>
              </a:rPr>
              <a:t>August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625" y="1828800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95800" y="2724150"/>
            <a:ext cx="32004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0" i="0" u="none">
                <a:solidFill>
                  <a:srgbClr val="FFFFFF"/>
                </a:solidFill>
                <a:latin typeface="Plus Jakarta Sans ExtraBold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5375" y="3505200"/>
            <a:ext cx="2381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Inter SemiBold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6534150"/>
            <a:ext cx="1990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475569"/>
                </a:solidFill>
                <a:latin typeface="Inter"/>
              </a:rPr>
              <a:t>ACER INDIA CATEGORY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7100" y="6534150"/>
            <a:ext cx="628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475569"/>
                </a:solidFill>
                <a:latin typeface="Inter"/>
              </a:rPr>
              <a:t>SLIDE 13 / 13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2009775"/>
            <a:ext cx="3810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10025" y="4257675"/>
            <a:ext cx="41719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chemeClr val="bg1"/>
                </a:solidFill>
                <a:latin typeface="Inter ExtraBold"/>
              </a:rPr>
              <a:t>Prajval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0025" y="4476750"/>
            <a:ext cx="41719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A3E635"/>
                </a:solidFill>
                <a:latin typeface="Inter SemiBold"/>
              </a:rPr>
              <a:t>Data Analyst Intern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0025" y="4676775"/>
            <a:ext cx="4171950" cy="450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chemeClr val="bg1"/>
                </a:solidFill>
                <a:latin typeface="Inter"/>
              </a:rPr>
              <a:t>Acer India </a:t>
            </a:r>
            <a:endParaRPr lang="en-US" sz="975" b="0" i="0" u="none" dirty="0">
              <a:solidFill>
                <a:schemeClr val="bg1"/>
              </a:solidFill>
              <a:latin typeface="Inter"/>
            </a:endParaRPr>
          </a:p>
          <a:p>
            <a:pPr algn="ctr"/>
            <a:r>
              <a:rPr lang="en-US" sz="975" dirty="0">
                <a:solidFill>
                  <a:schemeClr val="bg1"/>
                </a:solidFill>
                <a:latin typeface="Inter"/>
              </a:rPr>
              <a:t>Internship Project Presentation </a:t>
            </a:r>
          </a:p>
          <a:p>
            <a:pPr algn="ctr"/>
            <a:r>
              <a:rPr sz="975" b="0" i="0" u="none" dirty="0">
                <a:solidFill>
                  <a:schemeClr val="bg1"/>
                </a:solidFill>
                <a:latin typeface="Inter"/>
              </a:rPr>
              <a:t>Suitcase &amp; Bag Category Analytics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D60E881-DC4E-D621-CC9E-09D3BB2BC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8173" y="1452562"/>
            <a:ext cx="2615654" cy="276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1259</Words>
  <Application>Microsoft Office PowerPoint</Application>
  <PresentationFormat>Widescreen</PresentationFormat>
  <Paragraphs>250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Inter</vt:lpstr>
      <vt:lpstr>Inter ExtraBold</vt:lpstr>
      <vt:lpstr>Inter Medium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Prajval P</cp:lastModifiedBy>
  <cp:revision>9</cp:revision>
  <dcterms:created xsi:type="dcterms:W3CDTF">2013-01-27T09:14:16Z</dcterms:created>
  <dcterms:modified xsi:type="dcterms:W3CDTF">2026-08-12T05:25:56Z</dcterms:modified>
  <cp:category/>
</cp:coreProperties>
</file>